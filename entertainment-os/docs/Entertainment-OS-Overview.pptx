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93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B1938"/>
                </a:solidFill>
                <a:latin typeface="Calibri"/>
              </a:rPr>
              <a:t>Live spend by category (₹)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Live spend (INR)</c:v>
                </c:pt>
              </c:strCache>
            </c:strRef>
          </c:tx>
          <c:spPr>
            <a:solidFill>
              <a:srgbClr val="4B3F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9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Movies</c:v>
                  </c:pt>
                  <c:pt idx="1">
                    <c:v>Events &amp; live</c:v>
                  </c:pt>
                  <c:pt idx="2">
                    <c:v>Dining</c:v>
                  </c:pt>
                  <c:pt idx="3">
                    <c:v>Private dining</c:v>
                  </c:pt>
                  <c:pt idx="4">
                    <c:v>Catering</c:v>
                  </c:pt>
                  <c:pt idx="5">
                    <c:v>Gifting &amp; merch</c:v>
                  </c:pt>
                  <c:pt idx="6">
                    <c:v>Experiences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2420</c:v>
                </c:pt>
                <c:pt idx="1">
                  <c:v>152000</c:v>
                </c:pt>
                <c:pt idx="2">
                  <c:v>28000</c:v>
                </c:pt>
                <c:pt idx="3">
                  <c:v>135000</c:v>
                </c:pt>
                <c:pt idx="4">
                  <c:v>168000</c:v>
                </c:pt>
                <c:pt idx="5">
                  <c:v>210000</c:v>
                </c:pt>
                <c:pt idx="6">
                  <c:v>267000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9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9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Entertainment OS brings every kind of entertainment spend into one system run by cooperating agents. Built for India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Concierge can use Claude for intake when an API key is configured; budget, policy and approval decisions are always plain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68680" cy="8686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750" y="1288390"/>
            <a:ext cx="486461" cy="4864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1945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Entertainment OS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agentic operating system for movies, events near you, dining, private events, catering, gifting and experiences across India, with budgets, approvals, expense reports and family &amp; friends splits built in.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flow works · Northwind India Pvt. Ltd. · amounts in ₹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one place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categories, one request box. Browse what’s on in your city, or describe it in plain words and let the agents take it from there.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0640" y="576072"/>
            <a:ext cx="566928" cy="566928"/>
          </a:xfrm>
          <a:prstGeom prst="ellipse">
            <a:avLst/>
          </a:prstGeom>
          <a:solidFill>
            <a:srgbClr val="FDEBE5"/>
          </a:solidFill>
          <a:ln w="12700">
            <a:solidFill>
              <a:srgbClr val="FDEBE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5364" y="700796"/>
            <a:ext cx="317480" cy="317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97880" y="50292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50292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Tickets, seats &amp; showtimes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20640" y="1362456"/>
            <a:ext cx="566928" cy="566928"/>
          </a:xfrm>
          <a:prstGeom prst="ellipse">
            <a:avLst/>
          </a:prstGeom>
          <a:solidFill>
            <a:srgbClr val="FDEBE5"/>
          </a:solidFill>
          <a:ln w="12700">
            <a:solidFill>
              <a:srgbClr val="FDEBE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364" y="1487180"/>
            <a:ext cx="317480" cy="317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97880" y="1289304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&amp; live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686800" y="1289304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Music, sports, tech, comedy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120640" y="2148840"/>
            <a:ext cx="566928" cy="566928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364" y="2273564"/>
            <a:ext cx="317480" cy="317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897880" y="207568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Dining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8686800" y="2075688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for clients, teams, family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120640" y="2935224"/>
            <a:ext cx="566928" cy="566928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364" y="3059948"/>
            <a:ext cx="317480" cy="317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897880" y="286207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dining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686800" y="2862072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PDRs &amp; banquet halls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120640" y="3721608"/>
            <a:ext cx="566928" cy="566928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364" y="3846332"/>
            <a:ext cx="317480" cy="317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897880" y="3648456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Catering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8686800" y="3648456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&amp; offsite food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5120640" y="4507992"/>
            <a:ext cx="566928" cy="566928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5364" y="4632716"/>
            <a:ext cx="317480" cy="3174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897880" y="443484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Gifting &amp; merch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8686800" y="443484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hampers, swag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5120640" y="5294376"/>
            <a:ext cx="566928" cy="566928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5364" y="5419100"/>
            <a:ext cx="317480" cy="31748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897880" y="5221224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Experiences</a:t>
            </a:r>
            <a:endParaRPr lang="en-US" sz="1800" dirty="0"/>
          </a:p>
        </p:txBody>
      </p:sp>
      <p:sp>
        <p:nvSpPr>
          <p:cNvPr id="31" name="Text 22"/>
          <p:cNvSpPr txBox="1"/>
          <p:nvPr/>
        </p:nvSpPr>
        <p:spPr>
          <a:xfrm>
            <a:off x="8686800" y="5221224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Offsites, walks, classes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your city: Country → State → City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Movies, cinemas, events and venues all follow the location you choose.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2918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B3F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Canada · …</a:t>
            </a:r>
            <a:pPr indent="0" marL="0">
              <a:buNone/>
            </a:pPr>
            <a:r>
              <a:rPr lang="en-US" sz="16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▾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2103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/ REGION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2918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B3F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· Ontario</a:t>
            </a:r>
            <a:pPr indent="0" marL="0">
              <a:buNone/>
            </a:pPr>
            <a:r>
              <a:rPr lang="en-US" sz="16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▾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2103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103120"/>
            <a:ext cx="32918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B3F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· Toronto</a:t>
            </a:r>
            <a:pPr indent="0" marL="0">
              <a:buNone/>
            </a:pPr>
            <a:r>
              <a:rPr lang="en-US" sz="16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▾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46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B3F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states &amp; union territories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3246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B3F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cities built in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3246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B3F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48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cities in 13 provinces &amp; territories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0" y="3200400"/>
            <a:ext cx="3413455" cy="2926080"/>
          </a:xfrm>
          <a:prstGeom prst="roundRect">
            <a:avLst>
              <a:gd name="adj" fmla="val 4688"/>
            </a:avLst>
          </a:prstGeom>
          <a:solidFill>
            <a:srgbClr val="FDEBE5"/>
          </a:solidFill>
          <a:ln w="12700">
            <a:solidFill>
              <a:srgbClr val="FDEB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03920" y="3383280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listed? Choose “Other”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3931920"/>
            <a:ext cx="28648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dropdown has an Other option with a text box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Typed-in places still get cinemas, events and venues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"Dinner in Pune" in a request overrides the picker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Abroad, ₹ prices also show the local currency (C$)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120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Remembered per person; "Use my office city" resets 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Movies and events near you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tickets in the same app, for yourself, with family or friends, or for the team.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FDEBE5"/>
          </a:solidFill>
          <a:ln w="12700">
            <a:solidFill>
              <a:srgbClr val="FDEBE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9037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783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1894789" cy="868680"/>
          </a:xfrm>
          <a:prstGeom prst="chevron">
            <a:avLst/>
          </a:prstGeom>
          <a:solidFill>
            <a:srgbClr val="E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6112" y="2514600"/>
            <a:ext cx="13004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(local language first)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97709" y="2514600"/>
            <a:ext cx="1894789" cy="868680"/>
          </a:xfrm>
          <a:prstGeom prst="chevron">
            <a:avLst/>
          </a:prstGeom>
          <a:solidFill>
            <a:srgbClr val="E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45181" y="2514600"/>
            <a:ext cx="13004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cinema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46778" y="2514600"/>
            <a:ext cx="1894789" cy="868680"/>
          </a:xfrm>
          <a:prstGeom prst="chevron">
            <a:avLst/>
          </a:prstGeom>
          <a:solidFill>
            <a:srgbClr val="E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94250" y="2514600"/>
            <a:ext cx="13004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2D/3D/IMAX/Recliner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95848" y="2514600"/>
            <a:ext cx="1894789" cy="868680"/>
          </a:xfrm>
          <a:prstGeom prst="chevron">
            <a:avLst/>
          </a:prstGeom>
          <a:solidFill>
            <a:srgbClr val="E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3320" y="2514600"/>
            <a:ext cx="13004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map (up to 10)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44917" y="2514600"/>
            <a:ext cx="1894789" cy="868680"/>
          </a:xfrm>
          <a:prstGeom prst="chevron">
            <a:avLst/>
          </a:prstGeom>
          <a:solidFill>
            <a:srgbClr val="E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2389" y="2514600"/>
            <a:ext cx="13004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review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793986" y="2514600"/>
            <a:ext cx="1894789" cy="868680"/>
          </a:xfrm>
          <a:prstGeom prst="chevron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141458" y="2514600"/>
            <a:ext cx="13004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m-tickets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rgbClr val="FDEBE5"/>
          </a:solidFill>
          <a:ln w="12700">
            <a:solidFill>
              <a:srgbClr val="FDEBE5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3824021"/>
            <a:ext cx="307238" cy="30723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280160" y="3703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near you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548640" y="4434840"/>
            <a:ext cx="1894789" cy="868680"/>
          </a:xfrm>
          <a:prstGeom prst="chevron">
            <a:avLst/>
          </a:prstGeom>
          <a:solidFill>
            <a:srgbClr val="E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96112" y="4434840"/>
            <a:ext cx="13004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· sports · tech · comedy · theatre · food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2397709" y="4434840"/>
            <a:ext cx="1894789" cy="868680"/>
          </a:xfrm>
          <a:prstGeom prst="chevron">
            <a:avLst/>
          </a:prstGeom>
          <a:solidFill>
            <a:srgbClr val="E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2745181" y="4434840"/>
            <a:ext cx="13004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Event, date &amp; venue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246778" y="4434840"/>
            <a:ext cx="1894789" cy="868680"/>
          </a:xfrm>
          <a:prstGeom prst="chevron">
            <a:avLst/>
          </a:prstGeom>
          <a:solidFill>
            <a:srgbClr val="E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594250" y="4434840"/>
            <a:ext cx="13004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tier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095848" y="4434840"/>
            <a:ext cx="1894789" cy="868680"/>
          </a:xfrm>
          <a:prstGeom prst="chevron">
            <a:avLst/>
          </a:prstGeom>
          <a:solidFill>
            <a:srgbClr val="E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443320" y="4434840"/>
            <a:ext cx="13004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7944917" y="4434840"/>
            <a:ext cx="1894789" cy="868680"/>
          </a:xfrm>
          <a:prstGeom prst="chevron">
            <a:avLst/>
          </a:prstGeom>
          <a:solidFill>
            <a:srgbClr val="E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292389" y="4434840"/>
            <a:ext cx="13004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review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9793986" y="4434840"/>
            <a:ext cx="1894789" cy="868680"/>
          </a:xfrm>
          <a:prstGeom prst="chevron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0141458" y="4434840"/>
            <a:ext cx="13004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e-tickets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just ask: "3 tickets for Orbit 9 IMAX tomorrow evening" · "Stand-up comedy with friends this weekend, split". Seats and prices are checked on the server, so a seat is never sold twice.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ask: the chat concierge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 screen is a chat. The agents do every step through to payment and the ticket.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645920" y="1691640"/>
            <a:ext cx="5852160" cy="512064"/>
          </a:xfrm>
          <a:prstGeom prst="roundRect">
            <a:avLst>
              <a:gd name="adj" fmla="val 21429"/>
            </a:avLst>
          </a:prstGeom>
          <a:solidFill>
            <a:srgbClr val="4B3FD1"/>
          </a:solidFill>
          <a:ln w="9525">
            <a:solidFill>
              <a:srgbClr val="4B3F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0" y="169164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planning to go for a movie today, can you check the theatres?”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13432"/>
            <a:ext cx="585216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0DD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313432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theatres near you (real cinemas from OpenStreetMap) with shows left today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645920" y="2935224"/>
            <a:ext cx="5852160" cy="512064"/>
          </a:xfrm>
          <a:prstGeom prst="roundRect">
            <a:avLst>
              <a:gd name="adj" fmla="val 21429"/>
            </a:avLst>
          </a:prstGeom>
          <a:solidFill>
            <a:srgbClr val="4B3FD1"/>
          </a:solidFill>
          <a:ln w="9525">
            <a:solidFill>
              <a:srgbClr val="4B3FD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0" y="293522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a theatre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585216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0DD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557016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each film and its showtimes; matches your time are highlighted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645920" y="4178808"/>
            <a:ext cx="5852160" cy="512064"/>
          </a:xfrm>
          <a:prstGeom prst="roundRect">
            <a:avLst>
              <a:gd name="adj" fmla="val 21429"/>
            </a:avLst>
          </a:prstGeom>
          <a:solidFill>
            <a:srgbClr val="4B3FD1"/>
          </a:solidFill>
          <a:ln w="9525">
            <a:solidFill>
              <a:srgbClr val="4B3FD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28800" y="417880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“2 tickets” → confirms the seats the agent preselected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585216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0DD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80060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+ Policy checks, then who pays → payment page (UPI / card / netbanking)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22392"/>
            <a:ext cx="585216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0DD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422392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sends the ticket, splits with the group, offers to file the expense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63840" y="1691640"/>
            <a:ext cx="3779215" cy="4297680"/>
          </a:xfrm>
          <a:prstGeom prst="roundRect">
            <a:avLst>
              <a:gd name="adj" fmla="val 3629"/>
            </a:avLst>
          </a:prstGeom>
          <a:solidFill>
            <a:srgbClr val="F7F6FB"/>
          </a:solidFill>
          <a:ln w="9525">
            <a:solidFill>
              <a:srgbClr val="E0DD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8160" y="182880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data, free APIs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2331720"/>
            <a:ext cx="323057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OpenStreetMap: real cinemas, restaurants, venues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iTunes chart / TMDB: films and posters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TheSportsDB: IPL, ISL, NHL, NBA, MLS, CFL fixtures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Open-Meteo: weather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Frankfurter: ₹ ↔ C$ rates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Nager.Date: public holidays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5166360"/>
            <a:ext cx="3230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labelled sample data offline. Payments are a demo gateway.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booking answers four questions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the requester, approvers and Finance, always.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057400"/>
          </a:xfrm>
          <a:prstGeom prst="roundRect">
            <a:avLst>
              <a:gd name="adj" fmla="val 6667"/>
            </a:avLst>
          </a:prstGeom>
          <a:solidFill>
            <a:srgbClr val="FBFAFF"/>
          </a:solidFill>
          <a:ln w="9525">
            <a:solidFill>
              <a:srgbClr val="E0DD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2539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57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booked it?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606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Requester, department, cost center and city are recorded on every booking and shown in every list.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45352" y="1783080"/>
            <a:ext cx="5394960" cy="2057400"/>
          </a:xfrm>
          <a:prstGeom prst="roundRect">
            <a:avLst>
              <a:gd name="adj" fmla="val 6667"/>
            </a:avLst>
          </a:prstGeom>
          <a:solidFill>
            <a:srgbClr val="FBFAFF"/>
          </a:solidFill>
          <a:ln w="9525">
            <a:solidFill>
              <a:srgbClr val="E0DD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103120"/>
            <a:ext cx="685800" cy="68580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548" y="22539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34072" y="2057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spending how much?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434072" y="2606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Company-paid, reimbursable, personal and each person’s share of group spend, per person and per category.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394960" cy="2057400"/>
          </a:xfrm>
          <a:prstGeom prst="roundRect">
            <a:avLst>
              <a:gd name="adj" fmla="val 6667"/>
            </a:avLst>
          </a:prstGeom>
          <a:solidFill>
            <a:srgbClr val="FBFAFF"/>
          </a:solidFill>
          <a:ln w="9525">
            <a:solidFill>
              <a:srgbClr val="E0DD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34840"/>
            <a:ext cx="685800" cy="68580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458571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389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pot of money?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49377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quarterly budget, personal monthly budget, or the lifestyle &amp; wellbeing allowance.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45352" y="4114800"/>
            <a:ext cx="5394960" cy="2057400"/>
          </a:xfrm>
          <a:prstGeom prst="roundRect">
            <a:avLst>
              <a:gd name="adj" fmla="val 6667"/>
            </a:avLst>
          </a:prstGeom>
          <a:solidFill>
            <a:srgbClr val="FBFAFF"/>
          </a:solidFill>
          <a:ln w="9525">
            <a:solidFill>
              <a:srgbClr val="E0DD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9672" y="4434840"/>
            <a:ext cx="685800" cy="68580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48" y="458571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34072" y="4389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needs to approve?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7434072" y="49377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ordered chain (Manager, Department head, Compliance, Finance) built from policy; nobody approves their own spend.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pipeline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does one job and writes its reasoning to the booking’s trace.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66544" cy="2194560"/>
          </a:xfrm>
          <a:prstGeom prst="roundRect">
            <a:avLst>
              <a:gd name="adj" fmla="val 6637"/>
            </a:avLst>
          </a:prstGeom>
          <a:solidFill>
            <a:srgbClr val="ECEBFF"/>
          </a:solidFill>
          <a:ln w="9525">
            <a:solidFill>
              <a:srgbClr val="E0DD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4B3FD1"/>
          </a:solidFill>
          <a:ln w="12700">
            <a:solidFill>
              <a:srgbClr val="4B3F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Concierge agent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request and city; picks show &amp; seats, event &amp; tier, or venue; prices it; suggests who pays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61488" y="1828800"/>
            <a:ext cx="2066544" cy="2194560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 w="9525">
            <a:solidFill>
              <a:srgbClr val="E0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90088" y="2057400"/>
            <a:ext cx="457200" cy="457200"/>
          </a:xfrm>
          <a:prstGeom prst="ellipse">
            <a:avLst/>
          </a:prstGeom>
          <a:solidFill>
            <a:srgbClr val="4B3FD1"/>
          </a:solidFill>
          <a:ln w="12700">
            <a:solidFill>
              <a:srgbClr val="4B3F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9008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990088" y="26060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agent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90088" y="301752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department, personal or wellbeing budget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74336" y="1828800"/>
            <a:ext cx="2066544" cy="2194560"/>
          </a:xfrm>
          <a:prstGeom prst="roundRect">
            <a:avLst>
              <a:gd name="adj" fmla="val 6637"/>
            </a:avLst>
          </a:prstGeom>
          <a:solidFill>
            <a:srgbClr val="ECEBFF"/>
          </a:solidFill>
          <a:ln w="9525">
            <a:solidFill>
              <a:srgbClr val="E0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02936" y="2057400"/>
            <a:ext cx="457200" cy="457200"/>
          </a:xfrm>
          <a:prstGeom prst="ellipse">
            <a:avLst/>
          </a:prstGeom>
          <a:solidFill>
            <a:srgbClr val="4B3FD1"/>
          </a:solidFill>
          <a:ln w="12700">
            <a:solidFill>
              <a:srgbClr val="4B3FD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0293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02936" y="26060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agent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02936" y="301752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approval chain; auto-approves low-risk spend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87184" y="1828800"/>
            <a:ext cx="2066544" cy="2194560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 w="9525">
            <a:solidFill>
              <a:srgbClr val="E0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15784" y="2057400"/>
            <a:ext cx="457200" cy="457200"/>
          </a:xfrm>
          <a:prstGeom prst="ellipse">
            <a:avLst/>
          </a:prstGeom>
          <a:solidFill>
            <a:srgbClr val="4B3FD1"/>
          </a:solidFill>
          <a:ln w="12700">
            <a:solidFill>
              <a:srgbClr val="4B3FD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15784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15784" y="26060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agent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15784" y="301752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it to each approver in order; stops if anyone rejects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00032" y="1828800"/>
            <a:ext cx="2066544" cy="2194560"/>
          </a:xfrm>
          <a:prstGeom prst="roundRect">
            <a:avLst>
              <a:gd name="adj" fmla="val 6637"/>
            </a:avLst>
          </a:prstGeom>
          <a:solidFill>
            <a:srgbClr val="ECEBFF"/>
          </a:solidFill>
          <a:ln w="9525">
            <a:solidFill>
              <a:srgbClr val="E0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28632" y="2057400"/>
            <a:ext cx="457200" cy="457200"/>
          </a:xfrm>
          <a:prstGeom prst="ellipse">
            <a:avLst/>
          </a:prstGeom>
          <a:solidFill>
            <a:srgbClr val="4B3FD1"/>
          </a:solidFill>
          <a:ln w="12700">
            <a:solidFill>
              <a:srgbClr val="4B3FD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2863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28632" y="26060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agent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28632" y="301752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and issues tickets; holds or releases seats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 depending on who pays: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75488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49834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5104181"/>
            <a:ext cx="307238" cy="307238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50876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F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Company-paid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508760" y="53035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to the cost center; the budget updates straight away.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297680" y="475488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26280" y="49834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81" y="5104181"/>
            <a:ext cx="307238" cy="307238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525780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3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agent</a:t>
            </a:r>
            <a:endParaRPr lang="en-US" sz="1600" dirty="0"/>
          </a:p>
        </p:txBody>
      </p:sp>
      <p:sp>
        <p:nvSpPr>
          <p:cNvPr id="39" name="Text 35"/>
          <p:cNvSpPr txBox="1"/>
          <p:nvPr/>
        </p:nvSpPr>
        <p:spPr>
          <a:xfrm>
            <a:off x="5257800" y="53035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bookings go to the family or friends ledger.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8046720" y="475488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8275320" y="49834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021" y="5104181"/>
            <a:ext cx="307238" cy="307238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900684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6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agent</a:t>
            </a:r>
            <a:endParaRPr lang="en-US" sz="1600" dirty="0"/>
          </a:p>
        </p:txBody>
      </p:sp>
      <p:sp>
        <p:nvSpPr>
          <p:cNvPr id="44" name="Text 39"/>
          <p:cNvSpPr txBox="1"/>
          <p:nvPr/>
        </p:nvSpPr>
        <p:spPr>
          <a:xfrm>
            <a:off x="9006840" y="53035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Personally-paid bookings become claimable expense reports.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pays? Four funding types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Concierge suggests one from your wording. You can always change it before confirming.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4389120"/>
          </a:xfrm>
          <a:prstGeom prst="roundRect">
            <a:avLst>
              <a:gd name="adj" fmla="val 5172"/>
            </a:avLst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B3F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Company-paid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"client dinner", "team movie night"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251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approval matrix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029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BOOKING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303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center charged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64992" y="1783080"/>
            <a:ext cx="2651760" cy="4389120"/>
          </a:xfrm>
          <a:prstGeom prst="roundRect">
            <a:avLst>
              <a:gd name="adj" fmla="val 517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93592" y="2011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86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personally → expense report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3200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"I’ll pay and expense it", "reimburse me"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593592" y="4251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expense report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593592" y="5029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BOOKING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593592" y="5303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Claimable report → Finance / HR / Benefits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81344" y="1783080"/>
            <a:ext cx="2651760" cy="4389120"/>
          </a:xfrm>
          <a:prstGeom prst="roundRect">
            <a:avLst>
              <a:gd name="adj" fmla="val 5172"/>
            </a:avLst>
          </a:prstGeom>
          <a:solidFill>
            <a:srgbClr val="F1F0F6"/>
          </a:solidFill>
          <a:ln w="12700">
            <a:solidFill>
              <a:srgbClr val="F1F0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9944" y="2011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4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9944" y="3200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"movie tonight", "on me"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09944" y="4251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9944" y="5029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BOOKING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409944" y="5303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toward your personal monthly budget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997696" y="1783080"/>
            <a:ext cx="2651760" cy="4389120"/>
          </a:xfrm>
          <a:prstGeom prst="roundRect">
            <a:avLst>
              <a:gd name="adj" fmla="val 5172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26296" y="2011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B3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with family / friends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226296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SAY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226296" y="3200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 my family", "with friends, split"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226296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226296" y="4251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226296" y="5029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BOOKING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226296" y="5303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to the group ledger; settle up by UPI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matrix for company money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money involved, the more approvers it needs. Nobody approves their own spend.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ECEBFF"/>
          </a:solidFill>
          <a:ln w="9525">
            <a:solidFill>
              <a:srgbClr val="E0DD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F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₹20,000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7830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budget and per-person caps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620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0DD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86207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F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₹20,000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86207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Manager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business need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41064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0DD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94106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F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₹2,00,000 or over cap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3941064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Department head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budget owner signs off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020056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0DD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502005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F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₹8,00,000 or over budget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502005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Finance (CFO)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or unbudgeted spend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76895" y="1783080"/>
            <a:ext cx="3566160" cy="41605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0DD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51215" y="2011680"/>
            <a:ext cx="594360" cy="59436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1974" y="2142439"/>
            <a:ext cx="332842" cy="33284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82735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triggers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351215" y="278892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for client-facing event tickets and client gifts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head when ₹/person exceeds the cap (Movies ₹1,000, Dining ₹4,000, Events ₹25,000)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approver is the requester, the chain moves to their manager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rejection ends the chain and releases held seats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Spent your own money? Expense reports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Expense agent drafts the report with receipts and routes it to the right team.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264603" cy="868680"/>
          </a:xfrm>
          <a:prstGeom prst="chevron">
            <a:avLst/>
          </a:prstGeom>
          <a:solidFill>
            <a:srgbClr val="E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83080"/>
            <a:ext cx="16702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as "paid personally"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67523" y="1783080"/>
            <a:ext cx="2264603" cy="868680"/>
          </a:xfrm>
          <a:prstGeom prst="chevron">
            <a:avLst/>
          </a:prstGeom>
          <a:solidFill>
            <a:srgbClr val="E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14995" y="1783080"/>
            <a:ext cx="16702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Confirmed, receipt captured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86406" y="1783080"/>
            <a:ext cx="2264603" cy="868680"/>
          </a:xfrm>
          <a:prstGeom prst="chevron">
            <a:avLst/>
          </a:prstGeom>
          <a:solidFill>
            <a:srgbClr val="E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33878" y="1783080"/>
            <a:ext cx="16702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bookings → submit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05289" y="1783080"/>
            <a:ext cx="2264603" cy="868680"/>
          </a:xfrm>
          <a:prstGeom prst="chevron">
            <a:avLst/>
          </a:prstGeom>
          <a:solidFill>
            <a:srgbClr val="E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52761" y="1783080"/>
            <a:ext cx="16702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by report type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424172" y="1783080"/>
            <a:ext cx="2264603" cy="868680"/>
          </a:xfrm>
          <a:prstGeom prst="chevron">
            <a:avLst/>
          </a:prstGeom>
          <a:solidFill>
            <a:srgbClr val="1D8A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71644" y="1783080"/>
            <a:ext cx="16702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→ reimbursed with payroll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B3F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/ business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lunch, prospect drinks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251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→ Finance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297680" y="306324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morale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drinks, celebrations, offsites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251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→ HR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46720" y="306324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2104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86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Wellbeing allowance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class, fitness, a concert for you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4251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only · capped at your balance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440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a booking can be claimed only once · only the owner submits · submit within 5 business days · a claimed booking can’t be cancelled until its report is withdrawn.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&amp; friends: split it like Splitwise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bookings land in the group ledger automatically; add cabs or groceries by hand and settle up by UPI.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43434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0DD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1424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Weekend gang (friends)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788920"/>
          <a:ext cx="4572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6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Ananya Iyer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owes ₹660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 Reddy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D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 back ₹840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Sneha Kapoor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owes ₹20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Karthik Rao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owes ₹160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22960" y="489204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Ledger: Stand-up Saturday ₹2,000 (Arjun) · Cabs to the venue ₹640 (Sneha) · Karthik paid Arjun ₹500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035040" y="1783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split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035040" y="2286000"/>
            <a:ext cx="26974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0DDE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217920" y="2286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3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Equally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₹3,000 ÷ 3 = ₹1,000 each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869680" y="2286000"/>
            <a:ext cx="26974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0DDE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052560" y="2286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3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amounts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₹1,500 / ₹1,000 / ₹500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035040" y="3429000"/>
            <a:ext cx="26974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0DDE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217920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3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/ 25% / 25%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8869680" y="3429000"/>
            <a:ext cx="26974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0DDE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052560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3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2, kids 1 → ₹1,500 / ₹750 / ₹750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035040" y="466344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to the paisa: shares always add up to the total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Settle-up suggests the fewest payments that bring everyone to zero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share counts toward your personal monthly budget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snapshot: who is spending what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Q2 (Jul–Sep 2026) · the agents run on 11 sample requests in Bengaluru, Mumbai and Hyderabad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B3F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₹9,49,760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company-paid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B3F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₹12,660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personal, reimbursable &amp; shared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6177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B3F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394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awaiting approval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480560" y="1691640"/>
          <a:ext cx="7162495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&amp; audit trail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 act on their own where it is safe; people decide where it matters.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183245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733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decisions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03911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policy and approval logic is plain code; Claude (optional) only turns text into a structured draft.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40080" cy="64008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8" y="2746858"/>
            <a:ext cx="358445" cy="35844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5877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Server-checked tickets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295351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availability, ticket tiers and venue prices are recalculated on the server; a seat is never sold twice.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640080" cy="64008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8" y="3661258"/>
            <a:ext cx="358445" cy="35844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5021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Approvals in a fixed order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386791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current approver can act; no self-approval; a rejection stops the booking.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434840"/>
            <a:ext cx="640080" cy="64008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8" y="4575658"/>
            <a:ext cx="358445" cy="35844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63040" y="4416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double claims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1463040" y="478231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booking can sit on one live expense report; claimed bookings can’t be cancelled.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5349240"/>
            <a:ext cx="640080" cy="64008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58" y="5490058"/>
            <a:ext cx="358445" cy="35844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53309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trace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1463040" y="569671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and human decision is time-stamped on the booking and in the Agent activity log.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515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3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entertainment-os &amp;&amp; npm start → http://localhost:4600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3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the chat: “I’m planning to go for a movie today, check the theatres”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3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city (India, Canada, or Other) with the location picker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3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"Acting as" to play requester, manager, dept head, Compliance, Finance, HR or Benefits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3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test runs the agent test suite; set ANTHROPIC_API_KEY to let Claude read requests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3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docs: Handbook (.docx) and Operations Workbook (.xlsx)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real places, films and fixtures from free APIs. Offline: labelled sample data. Payments are simulated.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Entertainment OS — How the flow works (India)</dc:title>
  <dc:subject>PptxGenJS Presentation</dc:subject>
  <dc:creator>PptxGenJS</dc:creator>
  <cp:lastModifiedBy>PptxGenJS</cp:lastModifiedBy>
  <cp:revision>1</cp:revision>
  <dcterms:created xsi:type="dcterms:W3CDTF">2026-09-23T00:42:19Z</dcterms:created>
  <dcterms:modified xsi:type="dcterms:W3CDTF">2026-09-23T00:42:19Z</dcterms:modified>
</cp:coreProperties>
</file>