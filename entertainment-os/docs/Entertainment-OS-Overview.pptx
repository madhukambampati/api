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B2A27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2B2A27"/>
                </a:solidFill>
                <a:latin typeface="Calibri"/>
              </a:rPr>
              <a:t>Live spend by category ($)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Live spend ($)</c:v>
                </c:pt>
              </c:strCache>
            </c:strRef>
          </c:tx>
          <c:spPr>
            <a:solidFill>
              <a:srgbClr val="2F6B3F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2A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Reservations</c:v>
                  </c:pt>
                  <c:pt idx="1">
                    <c:v>Private dining</c:v>
                  </c:pt>
                  <c:pt idx="2">
                    <c:v>Catering</c:v>
                  </c:pt>
                  <c:pt idx="3">
                    <c:v>Sports &amp; live</c:v>
                  </c:pt>
                  <c:pt idx="4">
                    <c:v>Gifting</c:v>
                  </c:pt>
                  <c:pt idx="5">
                    <c:v>Experiences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1680</c:v>
                </c:pt>
                <c:pt idx="1">
                  <c:v>4500</c:v>
                </c:pt>
                <c:pt idx="2">
                  <c:v>4560</c:v>
                </c:pt>
                <c:pt idx="3">
                  <c:v>7320</c:v>
                </c:pt>
                <c:pt idx="4">
                  <c:v>3400</c:v>
                </c:pt>
                <c:pt idx="5">
                  <c:v>4050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B2A2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2A2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Entertainment OS brings every kind of entertainment spend into one system run by cooperating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Concierge can use Claude for intake when an API key is configured; budget, policy and approvals are always deterministic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2F6B3F"/>
          </a:solidFill>
          <a:ln w="12700">
            <a:solidFill>
              <a:srgbClr val="2F6B3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26187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14884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Entertainment OS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4612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agentic operating system for dining, private events, catering, sports, gifting and experiences — with budgets, approvals, expense reports and family &amp; friends splits built in.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C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flow works · Q3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in one place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categories, one request box. Describe it in plain words and the agents take it from there.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1168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E4F1DF"/>
          </a:solidFill>
          <a:ln w="12700">
            <a:solidFill>
              <a:srgbClr val="E4F1D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13969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432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Reservations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461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dinner for 4 · tonight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407408" y="1737360"/>
            <a:ext cx="352044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81728" y="201168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E4F1DF"/>
          </a:solidFill>
          <a:ln w="12700">
            <a:solidFill>
              <a:srgbClr val="E4F1D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744" y="213969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81728" y="27432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dining &amp; events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681728" y="32461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room for 30 · Aug 5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266176" y="1737360"/>
            <a:ext cx="352044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40496" y="201168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E4F1DF"/>
          </a:solidFill>
          <a:ln w="12700">
            <a:solidFill>
              <a:srgbClr val="E4F1D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512" y="2139696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540496" y="27432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Catering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540496" y="32461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Offsite lunch · 120 people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4160520"/>
            <a:ext cx="352044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2960" y="4434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E4F1DF"/>
          </a:solidFill>
          <a:ln w="12700">
            <a:solidFill>
              <a:srgbClr val="E4F1D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4562856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" y="5166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Sports &amp; live events</a:t>
            </a:r>
            <a:endParaRPr lang="en-US" sz="19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5669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at the Warriors game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4407408" y="4160520"/>
            <a:ext cx="352044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681728" y="4434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E4F1DF"/>
          </a:solidFill>
          <a:ln w="12700">
            <a:solidFill>
              <a:srgbClr val="E4F1DF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9744" y="4562856"/>
            <a:ext cx="384048" cy="38404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681728" y="5166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Gifting &amp; merch</a:t>
            </a:r>
            <a:endParaRPr lang="en-US" sz="1900" dirty="0"/>
          </a:p>
        </p:txBody>
      </p:sp>
      <p:sp>
        <p:nvSpPr>
          <p:cNvPr id="28" name="Text 21"/>
          <p:cNvSpPr txBox="1"/>
          <p:nvPr/>
        </p:nvSpPr>
        <p:spPr>
          <a:xfrm>
            <a:off x="4681728" y="5669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 gifts · 40 clients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8266176" y="4160520"/>
            <a:ext cx="352044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540496" y="4434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E4F1DF"/>
          </a:solidFill>
          <a:ln w="12700">
            <a:solidFill>
              <a:srgbClr val="E4F1DF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8512" y="4562856"/>
            <a:ext cx="384048" cy="38404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540496" y="5166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Experiences</a:t>
            </a:r>
            <a:endParaRPr lang="en-US" sz="1900" dirty="0"/>
          </a:p>
        </p:txBody>
      </p:sp>
      <p:sp>
        <p:nvSpPr>
          <p:cNvPr id="33" name="Text 25"/>
          <p:cNvSpPr txBox="1"/>
          <p:nvPr/>
        </p:nvSpPr>
        <p:spPr>
          <a:xfrm>
            <a:off x="8540496" y="5669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offsite · Napa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booking answers four questions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to the requester, approvers and Finance — always.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2057400"/>
          </a:xfrm>
          <a:prstGeom prst="roundRect">
            <a:avLst>
              <a:gd name="adj" fmla="val 6667"/>
            </a:avLst>
          </a:prstGeom>
          <a:solidFill>
            <a:srgbClr val="FBFAF7"/>
          </a:solidFill>
          <a:ln w="9525">
            <a:solidFill>
              <a:srgbClr val="DDD9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03120"/>
            <a:ext cx="685800" cy="685800"/>
          </a:xfrm>
          <a:prstGeom prst="roundRect">
            <a:avLst>
              <a:gd name="adj" fmla="val 16000"/>
            </a:avLst>
          </a:prstGeom>
          <a:solidFill>
            <a:srgbClr val="E4F1DF"/>
          </a:solidFill>
          <a:ln w="12700">
            <a:solidFill>
              <a:srgbClr val="E4F1D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40280"/>
            <a:ext cx="411480" cy="411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booked it?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260604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Requester, department and cost center are captured on every booking and shown in every list.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45352" y="1783080"/>
            <a:ext cx="5394960" cy="2057400"/>
          </a:xfrm>
          <a:prstGeom prst="roundRect">
            <a:avLst>
              <a:gd name="adj" fmla="val 6667"/>
            </a:avLst>
          </a:prstGeom>
          <a:solidFill>
            <a:srgbClr val="FBFAF7"/>
          </a:solidFill>
          <a:ln w="9525">
            <a:solidFill>
              <a:srgbClr val="DDD9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19672" y="2103120"/>
            <a:ext cx="685800" cy="685800"/>
          </a:xfrm>
          <a:prstGeom prst="roundRect">
            <a:avLst>
              <a:gd name="adj" fmla="val 16000"/>
            </a:avLst>
          </a:prstGeom>
          <a:solidFill>
            <a:srgbClr val="E4F1DF"/>
          </a:solidFill>
          <a:ln w="12700">
            <a:solidFill>
              <a:srgbClr val="E4F1D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832" y="224028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34072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is spending how much?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7434072" y="260604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Company-paid, reimbursable, personal and each person’s share of group spend — per person, per category.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48640" y="4114800"/>
            <a:ext cx="5394960" cy="2057400"/>
          </a:xfrm>
          <a:prstGeom prst="roundRect">
            <a:avLst>
              <a:gd name="adj" fmla="val 6667"/>
            </a:avLst>
          </a:prstGeom>
          <a:solidFill>
            <a:srgbClr val="FBFAF7"/>
          </a:solidFill>
          <a:ln w="9525">
            <a:solidFill>
              <a:srgbClr val="DDD9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4434840"/>
            <a:ext cx="685800" cy="685800"/>
          </a:xfrm>
          <a:prstGeom prst="roundRect">
            <a:avLst>
              <a:gd name="adj" fmla="val 16000"/>
            </a:avLst>
          </a:prstGeom>
          <a:solidFill>
            <a:srgbClr val="E4F1DF"/>
          </a:solidFill>
          <a:ln w="12700">
            <a:solidFill>
              <a:srgbClr val="E4F1D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7200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37360" y="43891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pot of money?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737360" y="493776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quarterly budget, personal monthly budget, or the lifestyle &amp; wellbeing stipend.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245352" y="4114800"/>
            <a:ext cx="5394960" cy="2057400"/>
          </a:xfrm>
          <a:prstGeom prst="roundRect">
            <a:avLst>
              <a:gd name="adj" fmla="val 6667"/>
            </a:avLst>
          </a:prstGeom>
          <a:solidFill>
            <a:srgbClr val="FBFAF7"/>
          </a:solidFill>
          <a:ln w="9525">
            <a:solidFill>
              <a:srgbClr val="DDD9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19672" y="4434840"/>
            <a:ext cx="685800" cy="685800"/>
          </a:xfrm>
          <a:prstGeom prst="roundRect">
            <a:avLst>
              <a:gd name="adj" fmla="val 16000"/>
            </a:avLst>
          </a:prstGeom>
          <a:solidFill>
            <a:srgbClr val="E4F1DF"/>
          </a:solidFill>
          <a:ln w="12700">
            <a:solidFill>
              <a:srgbClr val="E4F1D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6832" y="457200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34072" y="43891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needs to approve?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7434072" y="493776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ordered chain — Manager, Department head, Compliance, Finance — built from policy, never self-approved.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pipeline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does one job and writes its reasoning to the booking’s trace.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066544" cy="2011680"/>
          </a:xfrm>
          <a:prstGeom prst="roundRect">
            <a:avLst>
              <a:gd name="adj" fmla="val 6818"/>
            </a:avLst>
          </a:prstGeom>
          <a:solidFill>
            <a:srgbClr val="E4F1DF"/>
          </a:solidFill>
          <a:ln w="9525">
            <a:solidFill>
              <a:srgbClr val="DDD9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48840"/>
            <a:ext cx="457200" cy="457200"/>
          </a:xfrm>
          <a:prstGeom prst="ellipse">
            <a:avLst/>
          </a:prstGeom>
          <a:solidFill>
            <a:srgbClr val="2F6B3F"/>
          </a:solidFill>
          <a:ln w="12700">
            <a:solidFill>
              <a:srgbClr val="2F6B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Concierge agent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08960"/>
            <a:ext cx="1655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Parses the request, picks vendor, prices it, proposes who pays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920240"/>
            <a:ext cx="2066544" cy="2011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90088" y="2148840"/>
            <a:ext cx="457200" cy="457200"/>
          </a:xfrm>
          <a:prstGeom prst="ellipse">
            <a:avLst/>
          </a:prstGeom>
          <a:solidFill>
            <a:srgbClr val="2F6B3F"/>
          </a:solidFill>
          <a:ln w="12700">
            <a:solidFill>
              <a:srgbClr val="2F6B3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90088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990088" y="269748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agent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990088" y="3108960"/>
            <a:ext cx="1655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department, personal or stipend budget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74336" y="1920240"/>
            <a:ext cx="2066544" cy="2011680"/>
          </a:xfrm>
          <a:prstGeom prst="roundRect">
            <a:avLst>
              <a:gd name="adj" fmla="val 6818"/>
            </a:avLst>
          </a:prstGeom>
          <a:solidFill>
            <a:srgbClr val="E4F1DF"/>
          </a:solidFill>
          <a:ln w="9525">
            <a:solidFill>
              <a:srgbClr val="DDD9C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02936" y="2148840"/>
            <a:ext cx="457200" cy="457200"/>
          </a:xfrm>
          <a:prstGeom prst="ellipse">
            <a:avLst/>
          </a:prstGeom>
          <a:solidFill>
            <a:srgbClr val="2F6B3F"/>
          </a:solidFill>
          <a:ln w="12700">
            <a:solidFill>
              <a:srgbClr val="2F6B3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02936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202936" y="269748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agent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202936" y="3108960"/>
            <a:ext cx="1655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the approval chain; auto-approves low risk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187184" y="1920240"/>
            <a:ext cx="2066544" cy="2011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15784" y="2148840"/>
            <a:ext cx="457200" cy="457200"/>
          </a:xfrm>
          <a:prstGeom prst="ellipse">
            <a:avLst/>
          </a:prstGeom>
          <a:solidFill>
            <a:srgbClr val="2F6B3F"/>
          </a:solidFill>
          <a:ln w="12700">
            <a:solidFill>
              <a:srgbClr val="2F6B3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15784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415784" y="269748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Approval agent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15784" y="3108960"/>
            <a:ext cx="1655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to each approver in order; stops on reject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400032" y="1920240"/>
            <a:ext cx="2066544" cy="2011680"/>
          </a:xfrm>
          <a:prstGeom prst="roundRect">
            <a:avLst>
              <a:gd name="adj" fmla="val 6818"/>
            </a:avLst>
          </a:prstGeom>
          <a:solidFill>
            <a:srgbClr val="E4F1DF"/>
          </a:solidFill>
          <a:ln w="9525">
            <a:solidFill>
              <a:srgbClr val="DDD9C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628632" y="2148840"/>
            <a:ext cx="457200" cy="457200"/>
          </a:xfrm>
          <a:prstGeom prst="ellipse">
            <a:avLst/>
          </a:prstGeom>
          <a:solidFill>
            <a:srgbClr val="2F6B3F"/>
          </a:solidFill>
          <a:ln w="12700">
            <a:solidFill>
              <a:srgbClr val="2F6B3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28632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628632" y="269748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 agent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628632" y="3108960"/>
            <a:ext cx="1655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with vendor, invites attendees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251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Then, depending on who pays: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4709160"/>
            <a:ext cx="3520440" cy="1371600"/>
          </a:xfrm>
          <a:prstGeom prst="roundRect">
            <a:avLst>
              <a:gd name="adj" fmla="val 10000"/>
            </a:avLst>
          </a:prstGeom>
          <a:solidFill>
            <a:srgbClr val="E8EEF8"/>
          </a:solidFill>
          <a:ln w="12700">
            <a:solidFill>
              <a:srgbClr val="E8EEF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7240" y="49377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5047488"/>
            <a:ext cx="329184" cy="329184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508760" y="4892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59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Company-paid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1508760" y="525780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 to the cost center; budget updated live.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297680" y="4709160"/>
            <a:ext cx="3520440" cy="1371600"/>
          </a:xfrm>
          <a:prstGeom prst="roundRect">
            <a:avLst>
              <a:gd name="adj" fmla="val 10000"/>
            </a:avLst>
          </a:prstGeom>
          <a:solidFill>
            <a:srgbClr val="EFE7F7"/>
          </a:solidFill>
          <a:ln w="12700">
            <a:solidFill>
              <a:srgbClr val="EFE7F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26280" y="49377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5047488"/>
            <a:ext cx="329184" cy="329184"/>
          </a:xfrm>
          <a:prstGeom prst="rect">
            <a:avLst/>
          </a:prstGeom>
        </p:spPr>
      </p:pic>
      <p:sp>
        <p:nvSpPr>
          <p:cNvPr id="38" name="Text 34"/>
          <p:cNvSpPr txBox="1"/>
          <p:nvPr/>
        </p:nvSpPr>
        <p:spPr>
          <a:xfrm>
            <a:off x="5257800" y="4892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3F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Split agent</a:t>
            </a:r>
            <a:endParaRPr lang="en-US" sz="1600" dirty="0"/>
          </a:p>
        </p:txBody>
      </p:sp>
      <p:sp>
        <p:nvSpPr>
          <p:cNvPr id="39" name="Text 35"/>
          <p:cNvSpPr txBox="1"/>
          <p:nvPr/>
        </p:nvSpPr>
        <p:spPr>
          <a:xfrm>
            <a:off x="5257800" y="525780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bookings posted to the family / friends ledger.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8046720" y="4709160"/>
            <a:ext cx="3520440" cy="137160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8275320" y="49377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5048" y="5047488"/>
            <a:ext cx="329184" cy="329184"/>
          </a:xfrm>
          <a:prstGeom prst="rect">
            <a:avLst/>
          </a:prstGeom>
        </p:spPr>
      </p:pic>
      <p:sp>
        <p:nvSpPr>
          <p:cNvPr id="43" name="Text 38"/>
          <p:cNvSpPr txBox="1"/>
          <p:nvPr/>
        </p:nvSpPr>
        <p:spPr>
          <a:xfrm>
            <a:off x="9006840" y="4892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Expense agent</a:t>
            </a:r>
            <a:endParaRPr lang="en-US" sz="1600" dirty="0"/>
          </a:p>
        </p:txBody>
      </p:sp>
      <p:sp>
        <p:nvSpPr>
          <p:cNvPr id="44" name="Text 39"/>
          <p:cNvSpPr txBox="1"/>
          <p:nvPr/>
        </p:nvSpPr>
        <p:spPr>
          <a:xfrm>
            <a:off x="9006840" y="525780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Personally-paid bookings become claimable expense reports.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pays? Four funding types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Concierge proposes one from your wording — you can always change it on the draft.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4389120"/>
          </a:xfrm>
          <a:prstGeom prst="roundRect">
            <a:avLst>
              <a:gd name="adj" fmla="val 5172"/>
            </a:avLst>
          </a:prstGeom>
          <a:solidFill>
            <a:srgbClr val="E8EEF8"/>
          </a:solidFill>
          <a:ln w="12700">
            <a:solidFill>
              <a:srgbClr val="E8EE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116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559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Company-paid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SAY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004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"client dinner", "team offsite"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977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2519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approval matrix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029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BOOKING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3035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center charged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364992" y="1783080"/>
            <a:ext cx="2651760" cy="4389120"/>
          </a:xfrm>
          <a:prstGeom prst="roundRect">
            <a:avLst>
              <a:gd name="adj" fmla="val 5172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93592" y="20116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Paid personally → expense report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593592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SAY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593592" y="32004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"I’ll pay and expense it", "reimburse me"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593592" y="3977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42519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expense report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593592" y="5029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BOOKING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593592" y="53035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Claimable report → Finance / HR / Benefits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81344" y="1783080"/>
            <a:ext cx="2651760" cy="4389120"/>
          </a:xfrm>
          <a:prstGeom prst="roundRect">
            <a:avLst>
              <a:gd name="adj" fmla="val 5172"/>
            </a:avLst>
          </a:prstGeom>
          <a:solidFill>
            <a:srgbClr val="EEEEEA"/>
          </a:solidFill>
          <a:ln w="12700">
            <a:solidFill>
              <a:srgbClr val="EEEEE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9944" y="20116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B5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Personal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409944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SAY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409944" y="32004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 me", "personal"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09944" y="3977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409944" y="42519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409944" y="5029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BOOKING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409944" y="53035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toward your personal monthly budget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997696" y="1783080"/>
            <a:ext cx="2651760" cy="4389120"/>
          </a:xfrm>
          <a:prstGeom prst="roundRect">
            <a:avLst>
              <a:gd name="adj" fmla="val 5172"/>
            </a:avLst>
          </a:prstGeom>
          <a:solidFill>
            <a:srgbClr val="EFE7F7"/>
          </a:solidFill>
          <a:ln w="12700">
            <a:solidFill>
              <a:srgbClr val="EFE7F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226296" y="20116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B3F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with family / friends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SAY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226296" y="32004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"with my family, split", "with friends"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226296" y="3977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9226296" y="42519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226296" y="5029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BOOKING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9226296" y="53035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to the group ledger; fewest-payments settle-up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Approval matrix for company money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grows with risk. Nobody approves their own spend.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7223760" cy="777240"/>
          </a:xfrm>
          <a:prstGeom prst="roundRect">
            <a:avLst>
              <a:gd name="adj" fmla="val 11765"/>
            </a:avLst>
          </a:prstGeom>
          <a:solidFill>
            <a:srgbClr val="E4F1DF"/>
          </a:solidFill>
          <a:ln w="9525">
            <a:solidFill>
              <a:srgbClr val="DDD9C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830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$250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178308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budget and per-attendee caps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862072"/>
            <a:ext cx="72237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86207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$250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2862072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Manager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business need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941064"/>
            <a:ext cx="72237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941064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$2,500 or over cap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3941064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Department head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owner signs off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020056"/>
            <a:ext cx="72237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5020056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$10,000 or over budget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5020056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Finance (CFO)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or unbudgeted spend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76895" y="1783080"/>
            <a:ext cx="3566160" cy="41148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51215" y="201168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E4F1DF"/>
          </a:solidFill>
          <a:ln w="12700">
            <a:solidFill>
              <a:srgbClr val="E4F1DF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0087" y="2130552"/>
            <a:ext cx="356616" cy="35661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9082735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Also triggers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8351215" y="2788920"/>
            <a:ext cx="3063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for client-facing sports tickets and client gifts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head when $/attendee exceeds the cap (e.g. Reservations $150, Catering $60, Sports $600)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approver is the requester, the chain moves to their manager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ends the chain; approvers see the live budget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Spent your own money? Expense reports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Expense agent drafts the report with receipts and routes it to the right team.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194560" cy="868680"/>
          </a:xfrm>
          <a:prstGeom prst="chevron">
            <a:avLst/>
          </a:prstGeom>
          <a:solidFill>
            <a:srgbClr val="E4F1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78308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6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as "paid personally"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788920" y="1783080"/>
            <a:ext cx="2194560" cy="868680"/>
          </a:xfrm>
          <a:prstGeom prst="chevron">
            <a:avLst/>
          </a:prstGeom>
          <a:solidFill>
            <a:srgbClr val="E4F1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154680" y="178308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6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confirmed, receipt captured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0" y="1783080"/>
            <a:ext cx="2194560" cy="868680"/>
          </a:xfrm>
          <a:prstGeom prst="chevron">
            <a:avLst/>
          </a:prstGeom>
          <a:solidFill>
            <a:srgbClr val="E4F1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94960" y="178308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6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bookings → Create &amp; submit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269480" y="1783080"/>
            <a:ext cx="2194560" cy="868680"/>
          </a:xfrm>
          <a:prstGeom prst="chevron">
            <a:avLst/>
          </a:prstGeom>
          <a:solidFill>
            <a:srgbClr val="E4F1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35240" y="178308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6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Routed by report type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509760" y="1783080"/>
            <a:ext cx="2194560" cy="868680"/>
          </a:xfrm>
          <a:prstGeom prst="chevron">
            <a:avLst/>
          </a:prstGeom>
          <a:solidFill>
            <a:srgbClr val="2F6B3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178308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→ reimbursed with payroll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063240"/>
            <a:ext cx="3520440" cy="2011680"/>
          </a:xfrm>
          <a:prstGeom prst="roundRect">
            <a:avLst>
              <a:gd name="adj" fmla="val 6818"/>
            </a:avLst>
          </a:prstGeom>
          <a:solidFill>
            <a:srgbClr val="E8EEF8"/>
          </a:solidFill>
          <a:ln w="12700">
            <a:solidFill>
              <a:srgbClr val="E8EE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246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59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/ business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703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lunch, prospect drinks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251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→ Finance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297680" y="3063240"/>
            <a:ext cx="3520440" cy="2011680"/>
          </a:xfrm>
          <a:prstGeom prst="roundRect">
            <a:avLst>
              <a:gd name="adj" fmla="val 6818"/>
            </a:avLst>
          </a:prstGeom>
          <a:solidFill>
            <a:srgbClr val="E4F1DF"/>
          </a:solidFill>
          <a:ln w="12700">
            <a:solidFill>
              <a:srgbClr val="E4F1D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0" y="3246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morale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0" y="3703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drinks, celebrations, offsites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4251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→ HR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046720" y="3063240"/>
            <a:ext cx="3520440" cy="2011680"/>
          </a:xfrm>
          <a:prstGeom prst="roundRect">
            <a:avLst>
              <a:gd name="adj" fmla="val 6818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321040" y="3246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Wellbeing stipend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3703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day, fitness class, a concert for you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4251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only · capped at stipend balance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4406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Guardrails: a booking can be claimed once · only the owner submits · submit within 5 business days · a claimed booking can’t be cancelled until the report is withdrawn.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&amp; friends: split it like Splitwise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bookings land in the group ledger automatically; add Ubers, groceries or gifts by hand.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120640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1168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EFE7F7"/>
          </a:solidFill>
          <a:ln w="12700">
            <a:solidFill>
              <a:srgbClr val="EFE7F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130552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21031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Weekend crew (friends)</a:t>
            </a:r>
            <a:endParaRPr lang="en-US" sz="1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788920"/>
          <a:ext cx="4572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F6C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6F6C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Maya Chen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owes $204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 Martins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2F6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gets back $476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Priya Shah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owes $108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Becker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owes $164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822960" y="49377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Ledger: Giants tickets $720 (Leo, split 4 ways) · Uber $96 (Priya) · Tom paid Leo $40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6035040" y="17830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to split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6035040" y="2286000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217920" y="22860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Equally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 ÷ 3 = $100 each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869680" y="2286000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052560" y="22860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amounts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 / $100 / $50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6035040" y="3429000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17920" y="34290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/ 25% / 25%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8869680" y="3429000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052560" y="34290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Adults 2, kids 1 → $150 / $75 / $75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6035040" y="4663440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to the cent — leftover cents are handed out so shares always add up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Settle-up suggests the fewest payments that bring everyone to zero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share counts toward your personal monthly budget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snapshot: who is spending what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Partners · 2026-Q3 · produced by running the agents on 11 sample requests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F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$23,640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603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company-paid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F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$1,870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77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personal, reimbursable &amp; shared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61772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F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394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awaiting approval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389120" y="1691640"/>
          <a:ext cx="7253935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Controls &amp; audit trail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where it is safe, human where it matters.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85800" cy="685800"/>
          </a:xfrm>
          <a:prstGeom prst="roundRect">
            <a:avLst>
              <a:gd name="adj" fmla="val 16000"/>
            </a:avLst>
          </a:prstGeom>
          <a:solidFill>
            <a:srgbClr val="E4F1DF"/>
          </a:solidFill>
          <a:ln w="12700">
            <a:solidFill>
              <a:srgbClr val="E4F1D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7452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7373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 decisions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212140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Budget, policy and approval logic is plain code; Claude (optional) only turns text into a structured draft.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834640"/>
            <a:ext cx="685800" cy="685800"/>
          </a:xfrm>
          <a:prstGeom prst="roundRect">
            <a:avLst>
              <a:gd name="adj" fmla="val 16000"/>
            </a:avLst>
          </a:prstGeom>
          <a:solidFill>
            <a:srgbClr val="E4F1DF"/>
          </a:solidFill>
          <a:ln w="12700">
            <a:solidFill>
              <a:srgbClr val="E4F1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7180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63040" y="2834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Ordered, un-skippable approvals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463040" y="321868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current approver can act; no self-approval; rejection stops the booking.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48640" y="3931920"/>
            <a:ext cx="685800" cy="685800"/>
          </a:xfrm>
          <a:prstGeom prst="roundRect">
            <a:avLst>
              <a:gd name="adj" fmla="val 16000"/>
            </a:avLst>
          </a:prstGeom>
          <a:solidFill>
            <a:srgbClr val="E4F1DF"/>
          </a:solidFill>
          <a:ln w="12700">
            <a:solidFill>
              <a:srgbClr val="E4F1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6908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39319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double claims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1463040" y="431596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booking can sit on one live expense report; claimed bookings can’t be cancelled.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48640" y="5029200"/>
            <a:ext cx="685800" cy="685800"/>
          </a:xfrm>
          <a:prstGeom prst="roundRect">
            <a:avLst>
              <a:gd name="adj" fmla="val 16000"/>
            </a:avLst>
          </a:prstGeom>
          <a:solidFill>
            <a:srgbClr val="E4F1DF"/>
          </a:solidFill>
          <a:ln w="12700">
            <a:solidFill>
              <a:srgbClr val="E4F1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16636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63040" y="5029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trace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1463040" y="541324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and human decision is time-stamped on the booking and in the Agent activity log.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4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10058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3EE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entertainment-os &amp;&amp; npm start → http://localhost:4600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3EE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"Acting as" to play requester, manager, dept head, Compliance, Finance, HR or Benefits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3EE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test runs the agent test suite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3EE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ANTHROPIC_API_KEY to let Claude read free-text requests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3EE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docs: Handbook (.docx) and Operations Workbook (.xlsx)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Entertainment OS — How the flow works</dc:title>
  <dc:subject>PptxGenJS Presentation</dc:subject>
  <dc:creator>PptxGenJS</dc:creator>
  <cp:lastModifiedBy>PptxGenJS</cp:lastModifiedBy>
  <cp:revision>1</cp:revision>
  <dcterms:created xsi:type="dcterms:W3CDTF">2026-09-22T23:38:16Z</dcterms:created>
  <dcterms:modified xsi:type="dcterms:W3CDTF">2026-09-22T23:38:16Z</dcterms:modified>
</cp:coreProperties>
</file>